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683386-8E4A-5122-F85C-A7FD113CB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1DEFA82-2ED5-2E7E-FCD6-17E5794C0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A2DFD6-4481-0485-99B8-162419A0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393F-2ACB-4BFC-A461-EC76F291A9C8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4A0296-58A5-FB57-3874-E7F57F4E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639588-9B39-9C2C-A20A-9F76D90D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6A5B-AFF6-4A80-8C42-28C4469F6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605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3A00D5-8CEA-2DB3-328C-DCBAF5D1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7F34CF-6A25-25C1-E4E9-EB47327C4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DD4E18-60FB-5B78-267F-74A9D4A6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393F-2ACB-4BFC-A461-EC76F291A9C8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F74E44-D0D7-3C13-1093-2D4FDF14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D1940C-5771-A119-FF7E-1894954E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6A5B-AFF6-4A80-8C42-28C4469F6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47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C9395-6E0C-2EB0-1F2A-AD4D9281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118E68-A136-6286-5BE4-CAFADEB38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D5C118-D5E1-7C66-A969-B37C9531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393F-2ACB-4BFC-A461-EC76F291A9C8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D1921E-985A-C20E-DEB0-F1C9B49BF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01BC75-9ACF-7942-8FE4-711D2DC9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6A5B-AFF6-4A80-8C42-28C4469F6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24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8F8F8-D10E-0D67-4A20-4C87A3FB8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D171C2-E1E8-5E48-6B59-FEDF63F74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2E74C0-997B-B1B9-D349-96625A958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0FE079-AC0F-81FE-E435-4A038EF1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393F-2ACB-4BFC-A461-EC76F291A9C8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591CB6-8A62-806F-DD81-8938FF9F1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052326-F993-2B40-41A6-B2CFD216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6A5B-AFF6-4A80-8C42-28C4469F6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414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CBE64-04D2-623E-F69B-27B4AD668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1A3EA3-DA65-686A-F58D-5000CF71C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D45772-12FF-93A3-0ED4-005837356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8791B1-2C81-40ED-8C1E-B7916E815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C9A8EE-1808-BF80-73E7-AF63AF6CD1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7C71EA3-F72E-4F3C-2838-8FB3DEC8B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393F-2ACB-4BFC-A461-EC76F291A9C8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CF4D4E-1990-DBF6-76BA-DA80385FC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168D19-F44F-3073-054F-B3769F18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6A5B-AFF6-4A80-8C42-28C4469F6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554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772C5-4F68-A2D8-1D1E-E76BAF8D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46CBB4-450C-84BE-781A-716D20155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393F-2ACB-4BFC-A461-EC76F291A9C8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93ABCE-5737-F486-10F1-68207B0B6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AD8AFE-6411-8387-38E2-6F99B56F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6A5B-AFF6-4A80-8C42-28C4469F6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592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1387C3-E220-AED1-98EF-C663DE43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393F-2ACB-4BFC-A461-EC76F291A9C8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5C3E3D-C6C5-A5F0-2D54-F5AB7D706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CC999F-FA4A-3869-2EAE-9056E5AC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6A5B-AFF6-4A80-8C42-28C4469F6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56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23892-07CD-91D8-41D1-2BFE835BF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632C0-5392-EE99-D906-1ECF36D6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7900C2-0DF8-C701-BA7D-B52B54785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BBC0E-8BFD-51BB-2D27-6C8820A1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393F-2ACB-4BFC-A461-EC76F291A9C8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F47BDF-DCB7-360E-F32B-219C0AF31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5FE54B-D76F-2E30-0F8C-955C5466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6A5B-AFF6-4A80-8C42-28C4469F6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60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6EFA7-8FFB-190B-E791-1D22E6DC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C8D9A9-E74D-F374-E6AA-C7CDA9764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BCA155-E032-2B3C-56B3-9C5DF535A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34C33F-B5BE-3E77-A59C-AE365158E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393F-2ACB-4BFC-A461-EC76F291A9C8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D001A-8346-304B-7791-2B396E267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077FD4-8E12-93B1-1E31-94C10D02E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6A5B-AFF6-4A80-8C42-28C4469F6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90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38374-C3C2-0ACE-D6C0-045F46F98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845AC4-FC84-B914-2F14-B549952CD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ED8B84-8EF8-41B9-BCA7-D2985BAF2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393F-2ACB-4BFC-A461-EC76F291A9C8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D5C35D-1C8F-F5AA-CA5A-08E7AC762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E3E2F7-6B17-3DEC-390F-63478BADC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6A5B-AFF6-4A80-8C42-28C4469F6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135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7729E7-5D2B-0926-EB73-3A48F74BB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8F068E-E24A-5356-6E05-2AE2C3CFF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391820-4BB0-165F-D0E6-933F5FA96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393F-2ACB-4BFC-A461-EC76F291A9C8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9633DE-70E1-CB1C-972E-D72A12E0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74B9DE-229D-E452-7C39-F717D5D8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16A5B-AFF6-4A80-8C42-28C4469F6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43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05E702-1470-FBB2-814D-CFAE506F3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CB94D5-7BEE-95A6-AF10-9C49D2E5D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4AE9B5-7F24-2DF9-0A9E-F1B2B5319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5393F-2ACB-4BFC-A461-EC76F291A9C8}" type="datetimeFigureOut">
              <a:rPr lang="zh-CN" altLang="en-US" smtClean="0"/>
              <a:t>2026/1/15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8A29DA-2D6A-3894-04A8-1D35BF63C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F7E6D-6664-0BAD-0951-B4A8E8C3C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16A5B-AFF6-4A80-8C42-28C4469F6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59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19053-7683-C53B-7994-195F978128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第二次进度汇报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3FE611-8AC5-ABE7-1237-179755AC4948}"/>
              </a:ext>
            </a:extLst>
          </p:cNvPr>
          <p:cNvSpPr txBox="1"/>
          <p:nvPr/>
        </p:nvSpPr>
        <p:spPr>
          <a:xfrm>
            <a:off x="6645058" y="3820438"/>
            <a:ext cx="2411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13</a:t>
            </a:r>
            <a:r>
              <a:rPr lang="zh-CN" altLang="en-US" dirty="0"/>
              <a:t>日星期二</a:t>
            </a:r>
          </a:p>
        </p:txBody>
      </p:sp>
    </p:spTree>
    <p:extLst>
      <p:ext uri="{BB962C8B-B14F-4D97-AF65-F5344CB8AC3E}">
        <p14:creationId xmlns:p14="http://schemas.microsoft.com/office/powerpoint/2010/main" val="4103285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1246C16-D53A-878C-DA16-7A1A5AECE5CC}"/>
              </a:ext>
            </a:extLst>
          </p:cNvPr>
          <p:cNvSpPr/>
          <p:nvPr/>
        </p:nvSpPr>
        <p:spPr>
          <a:xfrm>
            <a:off x="75293" y="0"/>
            <a:ext cx="130257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32C98CC9-3F1E-29AB-2B48-BBF804D65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0" y="1064712"/>
            <a:ext cx="2673256" cy="35387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9CB288E-6F07-C223-68A5-33FF033279FA}"/>
              </a:ext>
            </a:extLst>
          </p:cNvPr>
          <p:cNvSpPr txBox="1"/>
          <p:nvPr/>
        </p:nvSpPr>
        <p:spPr>
          <a:xfrm>
            <a:off x="3106453" y="1208762"/>
            <a:ext cx="4440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第一次汇报：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模型求解后发现车辆排布合理但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分散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19BE85-FADB-2697-7EA5-A9249CF69066}"/>
              </a:ext>
            </a:extLst>
          </p:cNvPr>
          <p:cNvSpPr txBox="1"/>
          <p:nvPr/>
        </p:nvSpPr>
        <p:spPr>
          <a:xfrm>
            <a:off x="3106453" y="2132092"/>
            <a:ext cx="3958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模型求解得到的目标函数属于离散值：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。存在目标函数值一样，但是呈现的排布差异大。</a:t>
            </a: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628B4969-859B-7393-A15A-ECD60F9FA716}"/>
              </a:ext>
            </a:extLst>
          </p:cNvPr>
          <p:cNvSpPr/>
          <p:nvPr/>
        </p:nvSpPr>
        <p:spPr>
          <a:xfrm>
            <a:off x="4427952" y="3239312"/>
            <a:ext cx="776614" cy="9233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779D7F-93F3-8165-B9C1-ECA4210566A9}"/>
              </a:ext>
            </a:extLst>
          </p:cNvPr>
          <p:cNvSpPr txBox="1"/>
          <p:nvPr/>
        </p:nvSpPr>
        <p:spPr>
          <a:xfrm>
            <a:off x="3093928" y="4346532"/>
            <a:ext cx="3638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增加目标函数使其向着紧凑的方向走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BA6D96-9A99-8D87-90E7-7D7FAF5DF654}"/>
              </a:ext>
            </a:extLst>
          </p:cNvPr>
          <p:cNvSpPr txBox="1"/>
          <p:nvPr/>
        </p:nvSpPr>
        <p:spPr>
          <a:xfrm>
            <a:off x="5085565" y="333164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解决办法</a:t>
            </a:r>
          </a:p>
        </p:txBody>
      </p:sp>
    </p:spTree>
    <p:extLst>
      <p:ext uri="{BB962C8B-B14F-4D97-AF65-F5344CB8AC3E}">
        <p14:creationId xmlns:p14="http://schemas.microsoft.com/office/powerpoint/2010/main" val="33851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B87FFA1-6D62-CEC4-535C-F4C8EA38B57C}"/>
              </a:ext>
            </a:extLst>
          </p:cNvPr>
          <p:cNvSpPr/>
          <p:nvPr/>
        </p:nvSpPr>
        <p:spPr>
          <a:xfrm>
            <a:off x="75156" y="100208"/>
            <a:ext cx="3970751" cy="2217107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F68EB1BF-4AFD-40BF-F3EE-8FA48CE9D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28" y="221995"/>
            <a:ext cx="2786295" cy="968009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4B496899-2212-762B-2273-3822D2E08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37" y="1311791"/>
            <a:ext cx="2682001" cy="83046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5A7BBB8-6790-A660-9EEF-7026FC56EE0D}"/>
              </a:ext>
            </a:extLst>
          </p:cNvPr>
          <p:cNvSpPr txBox="1"/>
          <p:nvPr/>
        </p:nvSpPr>
        <p:spPr>
          <a:xfrm>
            <a:off x="297786" y="451340"/>
            <a:ext cx="4398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原目标函数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410D165-2174-FDCB-54DA-F2D0B3F0B8AE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045907" y="1208761"/>
            <a:ext cx="154070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89A02B14-0B4C-C71D-7413-5F938ADAF8A1}"/>
              </a:ext>
            </a:extLst>
          </p:cNvPr>
          <p:cNvSpPr txBox="1"/>
          <p:nvPr/>
        </p:nvSpPr>
        <p:spPr>
          <a:xfrm>
            <a:off x="4288732" y="931762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增加紧凑目标</a:t>
            </a:r>
          </a:p>
        </p:txBody>
      </p:sp>
      <p:sp>
        <p:nvSpPr>
          <p:cNvPr id="17" name="左大括号 16">
            <a:extLst>
              <a:ext uri="{FF2B5EF4-FFF2-40B4-BE49-F238E27FC236}">
                <a16:creationId xmlns:a16="http://schemas.microsoft.com/office/drawing/2014/main" id="{2461B608-9B19-7625-1481-13E1C0ECDC3B}"/>
              </a:ext>
            </a:extLst>
          </p:cNvPr>
          <p:cNvSpPr/>
          <p:nvPr/>
        </p:nvSpPr>
        <p:spPr>
          <a:xfrm>
            <a:off x="8235863" y="641767"/>
            <a:ext cx="169102" cy="108525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CC34959-6ACD-28C3-83FD-4A3C417FEACA}"/>
              </a:ext>
            </a:extLst>
          </p:cNvPr>
          <p:cNvSpPr txBox="1"/>
          <p:nvPr/>
        </p:nvSpPr>
        <p:spPr>
          <a:xfrm>
            <a:off x="8342335" y="866838"/>
            <a:ext cx="1903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堆场排布的车辆</a:t>
            </a:r>
            <a:r>
              <a:rPr lang="en-US" altLang="zh-CN" dirty="0"/>
              <a:t>y</a:t>
            </a:r>
            <a:r>
              <a:rPr lang="zh-CN" altLang="en-US" dirty="0"/>
              <a:t>坐标总和最小</a:t>
            </a:r>
          </a:p>
        </p:txBody>
      </p:sp>
      <p:pic>
        <p:nvPicPr>
          <p:cNvPr id="20" name="图片 19" descr="图片包含 文本&#10;&#10;AI 生成的内容可能不正确。">
            <a:extLst>
              <a:ext uri="{FF2B5EF4-FFF2-40B4-BE49-F238E27FC236}">
                <a16:creationId xmlns:a16="http://schemas.microsoft.com/office/drawing/2014/main" id="{7786AA8C-A858-4598-4A84-66DE1537E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647" y="882664"/>
            <a:ext cx="2432448" cy="678708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FD7A700-6D1C-C843-C4E9-27381BB0035C}"/>
              </a:ext>
            </a:extLst>
          </p:cNvPr>
          <p:cNvSpPr txBox="1"/>
          <p:nvPr/>
        </p:nvSpPr>
        <p:spPr>
          <a:xfrm>
            <a:off x="854408" y="1131930"/>
            <a:ext cx="3325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同车型集中：使相同车型占用一个堆场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461085-FD35-9CA4-8779-294D5216FE49}"/>
              </a:ext>
            </a:extLst>
          </p:cNvPr>
          <p:cNvSpPr txBox="1"/>
          <p:nvPr/>
        </p:nvSpPr>
        <p:spPr>
          <a:xfrm>
            <a:off x="737587" y="1922009"/>
            <a:ext cx="31657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提高利用率：已使用堆场的最小面积利用率最大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DC4DC2E-8A06-625A-B46C-DC5281019169}"/>
              </a:ext>
            </a:extLst>
          </p:cNvPr>
          <p:cNvSpPr txBox="1"/>
          <p:nvPr/>
        </p:nvSpPr>
        <p:spPr>
          <a:xfrm>
            <a:off x="358862" y="2561562"/>
            <a:ext cx="50378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必然需要一个让排布紧凑的目标，但是如果加上这个目标就是三个目标了？怎么去加呢？是否存在权重分配问题？还是只加一个目标表示有这个紧凑的趋势，不考虑权重？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F0DC1128-E921-B78A-DE33-C72C96F512ED}"/>
              </a:ext>
            </a:extLst>
          </p:cNvPr>
          <p:cNvSpPr/>
          <p:nvPr/>
        </p:nvSpPr>
        <p:spPr>
          <a:xfrm>
            <a:off x="22774" y="2385268"/>
            <a:ext cx="5801334" cy="1043728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19F665E-CDE6-7931-8C79-4BFF419F6BF5}"/>
              </a:ext>
            </a:extLst>
          </p:cNvPr>
          <p:cNvGrpSpPr/>
          <p:nvPr/>
        </p:nvGrpSpPr>
        <p:grpSpPr>
          <a:xfrm>
            <a:off x="102078" y="3554386"/>
            <a:ext cx="3590823" cy="380749"/>
            <a:chOff x="102078" y="3554386"/>
            <a:chExt cx="3590823" cy="380749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6576553-8E5F-8F2C-4B07-8F85BBC8DA0B}"/>
                </a:ext>
              </a:extLst>
            </p:cNvPr>
            <p:cNvSpPr txBox="1"/>
            <p:nvPr/>
          </p:nvSpPr>
          <p:spPr>
            <a:xfrm>
              <a:off x="102078" y="3565803"/>
              <a:ext cx="818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尝试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C3CD5C9-2337-6D49-73F5-9FD8BD9FEA85}"/>
                </a:ext>
              </a:extLst>
            </p:cNvPr>
            <p:cNvSpPr txBox="1"/>
            <p:nvPr/>
          </p:nvSpPr>
          <p:spPr>
            <a:xfrm>
              <a:off x="770218" y="3554386"/>
              <a:ext cx="2922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加到了 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f(1)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函数上</a:t>
              </a:r>
            </a:p>
          </p:txBody>
        </p:sp>
      </p:grpSp>
      <p:pic>
        <p:nvPicPr>
          <p:cNvPr id="3" name="图片 2" descr="图表, 直方图&#10;&#10;AI 生成的内容可能不正确。">
            <a:extLst>
              <a:ext uri="{FF2B5EF4-FFF2-40B4-BE49-F238E27FC236}">
                <a16:creationId xmlns:a16="http://schemas.microsoft.com/office/drawing/2014/main" id="{CF40D7C1-5F26-AEFC-D9C9-91FFBD9EA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1735" y="4168192"/>
            <a:ext cx="1762418" cy="2589600"/>
          </a:xfrm>
          <a:prstGeom prst="rect">
            <a:avLst/>
          </a:prstGeom>
        </p:spPr>
      </p:pic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8590867D-9628-A5D3-C4C5-ED2B3AF167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2216" y="3394001"/>
            <a:ext cx="2335088" cy="33978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9AE255D-E51F-F84A-6A70-70F5F4FC7222}"/>
              </a:ext>
            </a:extLst>
          </p:cNvPr>
          <p:cNvSpPr txBox="1"/>
          <p:nvPr/>
        </p:nvSpPr>
        <p:spPr>
          <a:xfrm>
            <a:off x="0" y="3779393"/>
            <a:ext cx="5650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altLang="zh-CN" sz="1800" dirty="0">
                <a:solidFill>
                  <a:srgbClr val="7A7E85"/>
                </a:solidFill>
                <a:effectLst/>
                <a:latin typeface="JetBrains Mono"/>
              </a:rPr>
              <a:t>m.setObjective(obj_demo2 + obj_demo, GRB.MINIMIZE)</a:t>
            </a:r>
            <a:endParaRPr lang="pt-BR" altLang="zh-CN" sz="18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00B5D786-5863-3079-1401-E373772F01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862" y="4182706"/>
            <a:ext cx="2671721" cy="777648"/>
          </a:xfrm>
          <a:prstGeom prst="rect">
            <a:avLst/>
          </a:prstGeom>
        </p:spPr>
      </p:pic>
      <p:pic>
        <p:nvPicPr>
          <p:cNvPr id="19" name="图片 18" descr="图片包含 形状&#10;&#10;AI 生成的内容可能不正确。">
            <a:extLst>
              <a:ext uri="{FF2B5EF4-FFF2-40B4-BE49-F238E27FC236}">
                <a16:creationId xmlns:a16="http://schemas.microsoft.com/office/drawing/2014/main" id="{52F8FD88-0AAB-2573-4CF7-C638195B63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6718" y="4074405"/>
            <a:ext cx="3191320" cy="885949"/>
          </a:xfrm>
          <a:prstGeom prst="rect">
            <a:avLst/>
          </a:prstGeom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BA7CD1C4-E44A-7AF4-3AF3-ACD2AB065D45}"/>
              </a:ext>
            </a:extLst>
          </p:cNvPr>
          <p:cNvGrpSpPr/>
          <p:nvPr/>
        </p:nvGrpSpPr>
        <p:grpSpPr>
          <a:xfrm>
            <a:off x="6367893" y="3526002"/>
            <a:ext cx="3654047" cy="381054"/>
            <a:chOff x="6367893" y="3526002"/>
            <a:chExt cx="3654047" cy="381054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D9A3DB8-1215-D1AE-9550-80A7E62A2AFC}"/>
                </a:ext>
              </a:extLst>
            </p:cNvPr>
            <p:cNvSpPr txBox="1"/>
            <p:nvPr/>
          </p:nvSpPr>
          <p:spPr>
            <a:xfrm>
              <a:off x="6367893" y="3537724"/>
              <a:ext cx="818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尝试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96D2119-FDEE-11D9-9BA7-39AEB4B76A76}"/>
                </a:ext>
              </a:extLst>
            </p:cNvPr>
            <p:cNvSpPr txBox="1"/>
            <p:nvPr/>
          </p:nvSpPr>
          <p:spPr>
            <a:xfrm>
              <a:off x="7099257" y="3526002"/>
              <a:ext cx="2922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加到了 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f(2)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函数上</a:t>
              </a: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D0A462A4-259E-DDB3-0972-9EBE22587FAB}"/>
              </a:ext>
            </a:extLst>
          </p:cNvPr>
          <p:cNvSpPr txBox="1"/>
          <p:nvPr/>
        </p:nvSpPr>
        <p:spPr>
          <a:xfrm>
            <a:off x="4901316" y="5092911"/>
            <a:ext cx="6122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dirty="0">
                <a:solidFill>
                  <a:srgbClr val="BCBEC4"/>
                </a:solidFill>
                <a:effectLst/>
                <a:latin typeface="JetBrains Mono"/>
              </a:rPr>
              <a:t>m.setObjective(u_min - </a:t>
            </a:r>
            <a:r>
              <a:rPr lang="en-US" altLang="zh-CN" sz="1800" dirty="0" err="1">
                <a:solidFill>
                  <a:srgbClr val="BCBEC4"/>
                </a:solidFill>
                <a:effectLst/>
                <a:latin typeface="JetBrains Mono"/>
              </a:rPr>
              <a:t>obj_demo</a:t>
            </a:r>
            <a:r>
              <a:rPr lang="en-US" altLang="zh-CN" sz="1800" dirty="0">
                <a:solidFill>
                  <a:srgbClr val="BCBEC4"/>
                </a:solidFill>
                <a:effectLst/>
                <a:latin typeface="JetBrains Mono"/>
              </a:rPr>
              <a:t>, GRB.MAXIMIZE)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3456FD3-47CA-1D22-FDD1-C3D99E27BCE3}"/>
              </a:ext>
            </a:extLst>
          </p:cNvPr>
          <p:cNvSpPr txBox="1"/>
          <p:nvPr/>
        </p:nvSpPr>
        <p:spPr>
          <a:xfrm>
            <a:off x="5070418" y="6124878"/>
            <a:ext cx="3334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紧凑目标函数加到主目标函数和次目标函数，求解结果有差异？为什么？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55001A8A-1674-8A2C-9FA0-1A6F70B56596}"/>
              </a:ext>
            </a:extLst>
          </p:cNvPr>
          <p:cNvSpPr/>
          <p:nvPr/>
        </p:nvSpPr>
        <p:spPr>
          <a:xfrm>
            <a:off x="7512971" y="4310658"/>
            <a:ext cx="325675" cy="3006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49C087B-8D49-73D4-BFF9-193560AD3AC8}"/>
              </a:ext>
            </a:extLst>
          </p:cNvPr>
          <p:cNvSpPr/>
          <p:nvPr/>
        </p:nvSpPr>
        <p:spPr>
          <a:xfrm>
            <a:off x="1306357" y="4388292"/>
            <a:ext cx="325675" cy="3006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D8B3C0E-B332-6185-D99B-9B62592F982A}"/>
              </a:ext>
            </a:extLst>
          </p:cNvPr>
          <p:cNvSpPr txBox="1"/>
          <p:nvPr/>
        </p:nvSpPr>
        <p:spPr>
          <a:xfrm>
            <a:off x="4045907" y="3379283"/>
            <a:ext cx="2630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两堆场单车型案例</a:t>
            </a:r>
          </a:p>
        </p:txBody>
      </p:sp>
    </p:spTree>
    <p:extLst>
      <p:ext uri="{BB962C8B-B14F-4D97-AF65-F5344CB8AC3E}">
        <p14:creationId xmlns:p14="http://schemas.microsoft.com/office/powerpoint/2010/main" val="2430036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7B49311-C211-AFAA-E864-C615D3A67CE6}"/>
              </a:ext>
            </a:extLst>
          </p:cNvPr>
          <p:cNvGrpSpPr/>
          <p:nvPr/>
        </p:nvGrpSpPr>
        <p:grpSpPr>
          <a:xfrm>
            <a:off x="0" y="67398"/>
            <a:ext cx="3590823" cy="380749"/>
            <a:chOff x="102078" y="3554386"/>
            <a:chExt cx="3590823" cy="380749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EE48F67-5B9C-372B-DF9E-6D0652911EF2}"/>
                </a:ext>
              </a:extLst>
            </p:cNvPr>
            <p:cNvSpPr txBox="1"/>
            <p:nvPr/>
          </p:nvSpPr>
          <p:spPr>
            <a:xfrm>
              <a:off x="102078" y="3565803"/>
              <a:ext cx="818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尝试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B8204F0-905C-3145-354A-31F0FD712ECC}"/>
                </a:ext>
              </a:extLst>
            </p:cNvPr>
            <p:cNvSpPr txBox="1"/>
            <p:nvPr/>
          </p:nvSpPr>
          <p:spPr>
            <a:xfrm>
              <a:off x="770218" y="3554386"/>
              <a:ext cx="2922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加到了 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f(1)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函数上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C12DAD6-5B26-1398-F573-D6172DBF7BDE}"/>
              </a:ext>
            </a:extLst>
          </p:cNvPr>
          <p:cNvGrpSpPr/>
          <p:nvPr/>
        </p:nvGrpSpPr>
        <p:grpSpPr>
          <a:xfrm>
            <a:off x="7531002" y="78815"/>
            <a:ext cx="3654047" cy="381054"/>
            <a:chOff x="6367893" y="3526002"/>
            <a:chExt cx="3654047" cy="381054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6AFDA35-5743-234F-98B1-C61D214F9F61}"/>
                </a:ext>
              </a:extLst>
            </p:cNvPr>
            <p:cNvSpPr txBox="1"/>
            <p:nvPr/>
          </p:nvSpPr>
          <p:spPr>
            <a:xfrm>
              <a:off x="6367893" y="3537724"/>
              <a:ext cx="818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尝试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163672A-1362-ABFB-A2CE-AD633536CFEA}"/>
                </a:ext>
              </a:extLst>
            </p:cNvPr>
            <p:cNvSpPr txBox="1"/>
            <p:nvPr/>
          </p:nvSpPr>
          <p:spPr>
            <a:xfrm>
              <a:off x="7099257" y="3526002"/>
              <a:ext cx="2922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加到了 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f(2)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函数上</a:t>
              </a:r>
            </a:p>
          </p:txBody>
        </p:sp>
      </p:grpSp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82678E5B-2F11-761B-8D35-B6E5F6638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002" y="2125424"/>
            <a:ext cx="2467780" cy="358870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BDB659F-FE58-0842-5B80-3DD81BD6C81E}"/>
              </a:ext>
            </a:extLst>
          </p:cNvPr>
          <p:cNvSpPr txBox="1"/>
          <p:nvPr/>
        </p:nvSpPr>
        <p:spPr>
          <a:xfrm>
            <a:off x="3855711" y="124277"/>
            <a:ext cx="2630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两堆场两车型案例</a:t>
            </a:r>
          </a:p>
        </p:txBody>
      </p:sp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68186D1E-50AF-C4CB-60ED-D066E9416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7473" y="1322519"/>
            <a:ext cx="1762001" cy="439161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2930622-5D2E-A62B-8494-E380E422E2C8}"/>
              </a:ext>
            </a:extLst>
          </p:cNvPr>
          <p:cNvSpPr txBox="1"/>
          <p:nvPr/>
        </p:nvSpPr>
        <p:spPr>
          <a:xfrm>
            <a:off x="0" y="583702"/>
            <a:ext cx="3788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主目标最优值 </a:t>
            </a:r>
            <a:r>
              <a:rPr lang="en-US" altLang="zh-CN" dirty="0"/>
              <a:t>Z* = 0</a:t>
            </a:r>
          </a:p>
          <a:p>
            <a:r>
              <a:rPr lang="zh-CN" altLang="en-US" dirty="0"/>
              <a:t>最小利用率 </a:t>
            </a:r>
            <a:r>
              <a:rPr lang="en-US" altLang="zh-CN" dirty="0"/>
              <a:t>u_min = 0.222</a:t>
            </a:r>
            <a:endParaRPr lang="zh-CN" altLang="en-US" dirty="0"/>
          </a:p>
        </p:txBody>
      </p:sp>
      <p:pic>
        <p:nvPicPr>
          <p:cNvPr id="16" name="图片 15" descr="图表, 直方图&#10;&#10;AI 生成的内容可能不正确。">
            <a:extLst>
              <a:ext uri="{FF2B5EF4-FFF2-40B4-BE49-F238E27FC236}">
                <a16:creationId xmlns:a16="http://schemas.microsoft.com/office/drawing/2014/main" id="{0D623AB7-5B45-D033-A9E2-F31285A01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4" y="1365588"/>
            <a:ext cx="3232914" cy="471346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9956B70-58D7-9978-D199-16DE9036A406}"/>
              </a:ext>
            </a:extLst>
          </p:cNvPr>
          <p:cNvSpPr txBox="1"/>
          <p:nvPr/>
        </p:nvSpPr>
        <p:spPr>
          <a:xfrm>
            <a:off x="7896685" y="651136"/>
            <a:ext cx="29226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主目标最优值 </a:t>
            </a:r>
            <a:r>
              <a:rPr lang="en-US" altLang="zh-CN" dirty="0"/>
              <a:t>Z* = 0</a:t>
            </a:r>
          </a:p>
          <a:p>
            <a:r>
              <a:rPr lang="zh-CN" altLang="en-US" dirty="0"/>
              <a:t>最小利用率 u_min = 0.11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62177E6-B11F-3282-ACBF-DDBACF3D3853}"/>
              </a:ext>
            </a:extLst>
          </p:cNvPr>
          <p:cNvCxnSpPr/>
          <p:nvPr/>
        </p:nvCxnSpPr>
        <p:spPr>
          <a:xfrm flipV="1">
            <a:off x="2711885" y="2104373"/>
            <a:ext cx="1143826" cy="601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B4FAC41-F36D-244F-4ED8-3F0DC9BC73EE}"/>
              </a:ext>
            </a:extLst>
          </p:cNvPr>
          <p:cNvSpPr txBox="1"/>
          <p:nvPr/>
        </p:nvSpPr>
        <p:spPr>
          <a:xfrm>
            <a:off x="3283798" y="1279011"/>
            <a:ext cx="2395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优点</a:t>
            </a:r>
            <a:r>
              <a:rPr lang="zh-CN" altLang="en-US" sz="1200" dirty="0"/>
              <a:t>：理想确实应该是两种车放在一个堆场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B060960-FE9F-B441-EDF8-20E02C6078DF}"/>
              </a:ext>
            </a:extLst>
          </p:cNvPr>
          <p:cNvSpPr txBox="1"/>
          <p:nvPr/>
        </p:nvSpPr>
        <p:spPr>
          <a:xfrm>
            <a:off x="3283798" y="1645398"/>
            <a:ext cx="2670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缺点</a:t>
            </a:r>
            <a:r>
              <a:rPr lang="zh-CN" altLang="en-US" sz="1200" dirty="0"/>
              <a:t>：没有紧凑排布，同车型没有放在一起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F69C2B1-E3B4-4999-6494-CEE88ED200F1}"/>
              </a:ext>
            </a:extLst>
          </p:cNvPr>
          <p:cNvCxnSpPr/>
          <p:nvPr/>
        </p:nvCxnSpPr>
        <p:spPr>
          <a:xfrm flipH="1">
            <a:off x="6858000" y="1922745"/>
            <a:ext cx="1038685" cy="845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DCF2FBCE-4E5E-BCD8-83F6-7F6EB94BE4DC}"/>
              </a:ext>
            </a:extLst>
          </p:cNvPr>
          <p:cNvSpPr txBox="1"/>
          <p:nvPr/>
        </p:nvSpPr>
        <p:spPr>
          <a:xfrm>
            <a:off x="5461348" y="2768252"/>
            <a:ext cx="16033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/>
              <a:t>优点</a:t>
            </a:r>
            <a:r>
              <a:rPr lang="zh-CN" altLang="en-US" sz="1100" dirty="0"/>
              <a:t>：同车型确实都紧凑排布在一起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4AE3B1A-A560-D997-07EF-3B7430CB5390}"/>
              </a:ext>
            </a:extLst>
          </p:cNvPr>
          <p:cNvSpPr txBox="1"/>
          <p:nvPr/>
        </p:nvSpPr>
        <p:spPr>
          <a:xfrm>
            <a:off x="5461347" y="3228074"/>
            <a:ext cx="1603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/>
              <a:t>缺点</a:t>
            </a:r>
            <a:r>
              <a:rPr lang="zh-CN" altLang="en-US" sz="1100" dirty="0"/>
              <a:t>：使用了两个堆场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761E11B2-5326-8A04-481A-CD27CA3B4360}"/>
              </a:ext>
            </a:extLst>
          </p:cNvPr>
          <p:cNvCxnSpPr>
            <a:stCxn id="28" idx="2"/>
          </p:cNvCxnSpPr>
          <p:nvPr/>
        </p:nvCxnSpPr>
        <p:spPr>
          <a:xfrm flipH="1">
            <a:off x="6263012" y="3489684"/>
            <a:ext cx="1" cy="575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CD1B6C30-1B74-A91C-20E3-5E6792A45850}"/>
              </a:ext>
            </a:extLst>
          </p:cNvPr>
          <p:cNvSpPr txBox="1"/>
          <p:nvPr/>
        </p:nvSpPr>
        <p:spPr>
          <a:xfrm>
            <a:off x="5461347" y="4064696"/>
            <a:ext cx="15532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疑问：</a:t>
            </a:r>
            <a:r>
              <a:rPr lang="zh-CN" altLang="en-US" sz="1200" dirty="0"/>
              <a:t>我应不应该接受这种解呢？虽然和启发式的相比多使用了一个堆场，但是其他并无坏处？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A3BEBD1-9BF9-748E-7FD6-61AD2833B3D1}"/>
              </a:ext>
            </a:extLst>
          </p:cNvPr>
          <p:cNvCxnSpPr>
            <a:cxnSpLocks/>
            <a:stCxn id="31" idx="2"/>
            <a:endCxn id="34" idx="0"/>
          </p:cNvCxnSpPr>
          <p:nvPr/>
        </p:nvCxnSpPr>
        <p:spPr>
          <a:xfrm>
            <a:off x="6237961" y="5080359"/>
            <a:ext cx="0" cy="602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98DA2FC9-BF0E-0C52-1CF8-50DAAD37089A}"/>
              </a:ext>
            </a:extLst>
          </p:cNvPr>
          <p:cNvSpPr txBox="1"/>
          <p:nvPr/>
        </p:nvSpPr>
        <p:spPr>
          <a:xfrm>
            <a:off x="4902526" y="5683354"/>
            <a:ext cx="26708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是否就能直接用这个模型来证明：</a:t>
            </a:r>
            <a:r>
              <a:rPr lang="en-US" altLang="zh-CN" sz="1600" dirty="0" err="1"/>
              <a:t>gurobi</a:t>
            </a:r>
            <a:r>
              <a:rPr lang="zh-CN" altLang="en-US" sz="1600" dirty="0"/>
              <a:t>求解案例慢？</a:t>
            </a:r>
          </a:p>
        </p:txBody>
      </p:sp>
    </p:spTree>
    <p:extLst>
      <p:ext uri="{BB962C8B-B14F-4D97-AF65-F5344CB8AC3E}">
        <p14:creationId xmlns:p14="http://schemas.microsoft.com/office/powerpoint/2010/main" val="1445775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DC930B8-BB4B-2C2A-E019-8B33408B0B96}"/>
              </a:ext>
            </a:extLst>
          </p:cNvPr>
          <p:cNvSpPr/>
          <p:nvPr/>
        </p:nvSpPr>
        <p:spPr>
          <a:xfrm>
            <a:off x="0" y="0"/>
            <a:ext cx="95410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疑问二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28CB95-F384-F1DA-6F79-37B7F03DDBD1}"/>
              </a:ext>
            </a:extLst>
          </p:cNvPr>
          <p:cNvSpPr txBox="1"/>
          <p:nvPr/>
        </p:nvSpPr>
        <p:spPr>
          <a:xfrm>
            <a:off x="87681" y="400110"/>
            <a:ext cx="3438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ALNS</a:t>
            </a:r>
            <a:r>
              <a:rPr lang="zh-CN" altLang="en-US" dirty="0"/>
              <a:t>对目标结果好坏的评估？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867A5B37-DCD2-508E-5CE6-EDF250F77D8F}"/>
              </a:ext>
            </a:extLst>
          </p:cNvPr>
          <p:cNvSpPr/>
          <p:nvPr/>
        </p:nvSpPr>
        <p:spPr>
          <a:xfrm>
            <a:off x="832981" y="1503123"/>
            <a:ext cx="926926" cy="5198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95F9F0-B6F6-0740-9324-CC6781AB3B02}"/>
              </a:ext>
            </a:extLst>
          </p:cNvPr>
          <p:cNvSpPr txBox="1"/>
          <p:nvPr/>
        </p:nvSpPr>
        <p:spPr>
          <a:xfrm>
            <a:off x="1806878" y="1578372"/>
            <a:ext cx="10024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模型求解的目标函数值  和  算法的目标值（求解结果的好坏）不需要完全一样，只要等价即可。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5FD60CF-BFD3-0744-64C9-AF953D6AFA51}"/>
              </a:ext>
            </a:extLst>
          </p:cNvPr>
          <p:cNvCxnSpPr/>
          <p:nvPr/>
        </p:nvCxnSpPr>
        <p:spPr>
          <a:xfrm flipH="1">
            <a:off x="2016690" y="1872641"/>
            <a:ext cx="720247" cy="1321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B30543A-1585-A37A-C040-CB7212447A33}"/>
              </a:ext>
            </a:extLst>
          </p:cNvPr>
          <p:cNvSpPr txBox="1"/>
          <p:nvPr/>
        </p:nvSpPr>
        <p:spPr>
          <a:xfrm>
            <a:off x="1045923" y="3356975"/>
            <a:ext cx="16095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是离散值，相同目标数值下的求解方案优劣差别大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748198B-1FB1-2BAC-D987-835B8DC325CA}"/>
              </a:ext>
            </a:extLst>
          </p:cNvPr>
          <p:cNvCxnSpPr/>
          <p:nvPr/>
        </p:nvCxnSpPr>
        <p:spPr>
          <a:xfrm>
            <a:off x="5699342" y="1872641"/>
            <a:ext cx="751562" cy="1271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07762CAC-9C52-0253-31D8-70F423746898}"/>
              </a:ext>
            </a:extLst>
          </p:cNvPr>
          <p:cNvSpPr txBox="1"/>
          <p:nvPr/>
        </p:nvSpPr>
        <p:spPr>
          <a:xfrm>
            <a:off x="5956126" y="3281819"/>
            <a:ext cx="227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是连续值，值越大，求解结果趋向更好</a:t>
            </a:r>
          </a:p>
        </p:txBody>
      </p:sp>
    </p:spTree>
    <p:extLst>
      <p:ext uri="{BB962C8B-B14F-4D97-AF65-F5344CB8AC3E}">
        <p14:creationId xmlns:p14="http://schemas.microsoft.com/office/powerpoint/2010/main" val="322723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436</Words>
  <Application>Microsoft Office PowerPoint</Application>
  <PresentationFormat>宽屏</PresentationFormat>
  <Paragraphs>43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JetBrains Mono</vt:lpstr>
      <vt:lpstr>等线</vt:lpstr>
      <vt:lpstr>等线 Light</vt:lpstr>
      <vt:lpstr>微软雅黑</vt:lpstr>
      <vt:lpstr>Arial</vt:lpstr>
      <vt:lpstr>Office 主题​​</vt:lpstr>
      <vt:lpstr>第二次进度汇报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秋 祝</dc:creator>
  <cp:lastModifiedBy>秋 祝</cp:lastModifiedBy>
  <cp:revision>6</cp:revision>
  <dcterms:created xsi:type="dcterms:W3CDTF">2026-01-13T13:56:16Z</dcterms:created>
  <dcterms:modified xsi:type="dcterms:W3CDTF">2026-01-15T14:24:44Z</dcterms:modified>
</cp:coreProperties>
</file>